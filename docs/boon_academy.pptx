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19500" y="-1714500"/>
            <a:ext cx="16383000" cy="16383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31" y="2544068"/>
            <a:ext cx="2166938" cy="990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4360" y="4258568"/>
            <a:ext cx="11879132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boon-academy-intervention</a:t>
            </a: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5555412" y="5447258"/>
            <a:ext cx="71771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Student Intervention Pipeline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7429500" y="6390233"/>
            <a:ext cx="3429000" cy="190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003640" y="6828383"/>
            <a:ext cx="628072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Abdulrahman Mousa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6003640" y="7371308"/>
            <a:ext cx="62807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Engineer — Case Study Submission · 2026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-274320" y="9458325"/>
            <a:ext cx="18836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abdulrahman.b.mousa@gmail.com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-3238500"/>
            <a:ext cx="10477500" cy="10477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609600"/>
            <a:ext cx="1125141" cy="5143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6095" y="3328988"/>
            <a:ext cx="30356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4220298" y="4005262"/>
            <a:ext cx="330239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0" b="1" spc="-337" kern="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595" y="4300538"/>
            <a:ext cx="1676400" cy="838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851398" y="4005262"/>
            <a:ext cx="422966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0" b="1" spc="-337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11250" dirty="0"/>
          </a:p>
        </p:txBody>
      </p:sp>
      <p:sp>
        <p:nvSpPr>
          <p:cNvPr id="8" name="Text 3"/>
          <p:cNvSpPr/>
          <p:nvPr/>
        </p:nvSpPr>
        <p:spPr>
          <a:xfrm>
            <a:off x="3355657" y="5891213"/>
            <a:ext cx="1157668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facilitator knew exactly who to call — and had the message already written?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0" y="9648825"/>
            <a:ext cx="18288000" cy="638175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10" name="Text 5"/>
          <p:cNvSpPr/>
          <p:nvPr/>
        </p:nvSpPr>
        <p:spPr>
          <a:xfrm>
            <a:off x="773430" y="9820275"/>
            <a:ext cx="16741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boon-academy-intervention · AI Systems Engineer Case Study ·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159794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626519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Intervention Gap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3765649"/>
            <a:ext cx="5194250" cy="2437358"/>
          </a:xfrm>
          <a:prstGeom prst="roundRect">
            <a:avLst>
              <a:gd name="adj" fmla="val 859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6183957"/>
            <a:ext cx="51942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765649"/>
            <a:ext cx="51942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765649"/>
            <a:ext cx="76200" cy="243735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6222950" y="3765649"/>
            <a:ext cx="19050" cy="2437358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0" name="Shape 8"/>
          <p:cNvSpPr/>
          <p:nvPr/>
        </p:nvSpPr>
        <p:spPr>
          <a:xfrm>
            <a:off x="1504950" y="4146649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5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4270474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504950" y="4832449"/>
            <a:ext cx="446711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raw data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504950" y="5469582"/>
            <a:ext cx="4467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do I even call?”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546800" y="3765649"/>
            <a:ext cx="5194250" cy="2437358"/>
          </a:xfrm>
          <a:prstGeom prst="roundRect">
            <a:avLst>
              <a:gd name="adj" fmla="val 859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6800" y="6183957"/>
            <a:ext cx="51942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6800" y="3765649"/>
            <a:ext cx="51942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6800" y="3765649"/>
            <a:ext cx="76200" cy="243735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22001" y="3765649"/>
            <a:ext cx="19050" cy="2437358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7004000" y="4146649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5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27825" y="4270474"/>
            <a:ext cx="209550" cy="20955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004000" y="4832449"/>
            <a:ext cx="446711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priority signal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7004000" y="5469582"/>
            <a:ext cx="4467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student is most at risk?”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045851" y="3765649"/>
            <a:ext cx="5194250" cy="2437358"/>
          </a:xfrm>
          <a:prstGeom prst="roundRect">
            <a:avLst>
              <a:gd name="adj" fmla="val 859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45851" y="6183957"/>
            <a:ext cx="51942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45851" y="3765649"/>
            <a:ext cx="51942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45851" y="3765649"/>
            <a:ext cx="76200" cy="243735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7221051" y="3765649"/>
            <a:ext cx="19050" cy="2437358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8" name="Shape 26"/>
          <p:cNvSpPr/>
          <p:nvPr/>
        </p:nvSpPr>
        <p:spPr>
          <a:xfrm>
            <a:off x="12503051" y="4146649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5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626876" y="4346674"/>
            <a:ext cx="20955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2503051" y="4832449"/>
            <a:ext cx="446711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missed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2503051" y="5469582"/>
            <a:ext cx="4467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didn't get to it today.”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47750" y="6641157"/>
            <a:ext cx="16192500" cy="1485900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7750" y="6641157"/>
            <a:ext cx="95250" cy="14859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4" name="Text 32"/>
          <p:cNvSpPr/>
          <p:nvPr/>
        </p:nvSpPr>
        <p:spPr>
          <a:xfrm>
            <a:off x="1524000" y="6965007"/>
            <a:ext cx="1579530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students · 20 campuses · ~30% intervention rate · Target: 80%+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524000" y="7450782"/>
            <a:ext cx="1579530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 of 20. Quiz 2 in 6 days. Every hour of delay costs a student a call.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E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857500"/>
            <a:ext cx="11430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6231" y="2667000"/>
            <a:ext cx="2395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12" kern="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2570798" y="3343275"/>
            <a:ext cx="13146405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500" b="1" spc="-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facilitator opens their Excel file and knows the top 3 students to call today — with the WhatsApp message already written.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5585371" y="6000750"/>
            <a:ext cx="1851720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833021" y="6153150"/>
            <a:ext cx="13564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analysis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7646640" y="6000750"/>
            <a:ext cx="1948309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894290" y="6153150"/>
            <a:ext cx="1453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guessing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804499" y="6000750"/>
            <a:ext cx="2897981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046780" y="6153150"/>
            <a:ext cx="2413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tools to learn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7818090" y="6981825"/>
            <a:ext cx="2651820" cy="63817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12" name="Text 9"/>
          <p:cNvSpPr/>
          <p:nvPr/>
        </p:nvSpPr>
        <p:spPr>
          <a:xfrm>
            <a:off x="8064063" y="7134225"/>
            <a:ext cx="2159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340322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807047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Pipeline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4060478"/>
            <a:ext cx="2811661" cy="695325"/>
          </a:xfrm>
          <a:prstGeom prst="roundRect">
            <a:avLst>
              <a:gd name="adj" fmla="val 24658"/>
            </a:avLst>
          </a:prstGeom>
          <a:solidFill>
            <a:srgbClr val="5E2D91"/>
          </a:solidFill>
          <a:ln/>
        </p:spPr>
      </p:sp>
      <p:sp>
        <p:nvSpPr>
          <p:cNvPr id="6" name="Text 4"/>
          <p:cNvSpPr/>
          <p:nvPr/>
        </p:nvSpPr>
        <p:spPr>
          <a:xfrm>
            <a:off x="1081775" y="4270028"/>
            <a:ext cx="27436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47750" y="4965353"/>
            <a:ext cx="2811661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6350" y="5213003"/>
            <a:ext cx="243881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E1B4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 CSV inputs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duplicates auto-removed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821311" y="4060478"/>
            <a:ext cx="609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4392811" y="4060478"/>
            <a:ext cx="2811810" cy="695325"/>
          </a:xfrm>
          <a:prstGeom prst="roundRect">
            <a:avLst>
              <a:gd name="adj" fmla="val 24658"/>
            </a:avLst>
          </a:prstGeom>
          <a:solidFill>
            <a:srgbClr val="5E2D91"/>
          </a:solidFill>
          <a:ln/>
        </p:spPr>
      </p:sp>
      <p:sp>
        <p:nvSpPr>
          <p:cNvPr id="11" name="Text 9"/>
          <p:cNvSpPr/>
          <p:nvPr/>
        </p:nvSpPr>
        <p:spPr>
          <a:xfrm>
            <a:off x="4426834" y="4270028"/>
            <a:ext cx="27437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392811" y="4965353"/>
            <a:ext cx="281181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1411" y="5213003"/>
            <a:ext cx="243896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E1B4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Weighted risk model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35 · practice 30 · trend 20 · notes 15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166521" y="4060478"/>
            <a:ext cx="609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5" name="Shape 13"/>
          <p:cNvSpPr/>
          <p:nvPr/>
        </p:nvSpPr>
        <p:spPr>
          <a:xfrm>
            <a:off x="7738021" y="4060478"/>
            <a:ext cx="2811810" cy="695325"/>
          </a:xfrm>
          <a:prstGeom prst="roundRect">
            <a:avLst>
              <a:gd name="adj" fmla="val 24658"/>
            </a:avLst>
          </a:prstGeom>
          <a:solidFill>
            <a:srgbClr val="5E2D9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044" y="4270028"/>
            <a:ext cx="27437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ENRICH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7738021" y="4965353"/>
            <a:ext cx="281181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6621" y="5213003"/>
            <a:ext cx="243896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claude-sonnet-4-5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campus-batched · 3-layer fallback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511730" y="4060478"/>
            <a:ext cx="609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20" name="Shape 18"/>
          <p:cNvSpPr/>
          <p:nvPr/>
        </p:nvSpPr>
        <p:spPr>
          <a:xfrm>
            <a:off x="11083230" y="4060478"/>
            <a:ext cx="2811810" cy="695325"/>
          </a:xfrm>
          <a:prstGeom prst="roundRect">
            <a:avLst>
              <a:gd name="adj" fmla="val 24658"/>
            </a:avLst>
          </a:prstGeom>
          <a:solidFill>
            <a:srgbClr val="5E2D91"/>
          </a:solidFill>
          <a:ln/>
        </p:spPr>
      </p:sp>
      <p:sp>
        <p:nvSpPr>
          <p:cNvPr id="21" name="Text 19"/>
          <p:cNvSpPr/>
          <p:nvPr/>
        </p:nvSpPr>
        <p:spPr>
          <a:xfrm>
            <a:off x="11117253" y="4270028"/>
            <a:ext cx="27437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083230" y="4965353"/>
            <a:ext cx="281181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11830" y="5213003"/>
            <a:ext cx="243896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E1B4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14 files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· HTML · CSV · Word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3856940" y="4060478"/>
            <a:ext cx="609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25" name="Shape 23"/>
          <p:cNvSpPr/>
          <p:nvPr/>
        </p:nvSpPr>
        <p:spPr>
          <a:xfrm>
            <a:off x="14428440" y="4060478"/>
            <a:ext cx="2811810" cy="695325"/>
          </a:xfrm>
          <a:prstGeom prst="roundRect">
            <a:avLst>
              <a:gd name="adj" fmla="val 24658"/>
            </a:avLst>
          </a:prstGeom>
          <a:solidFill>
            <a:srgbClr val="5E2D91"/>
          </a:solidFill>
          <a:ln/>
        </p:spPr>
      </p:sp>
      <p:sp>
        <p:nvSpPr>
          <p:cNvPr id="26" name="Text 24"/>
          <p:cNvSpPr/>
          <p:nvPr/>
        </p:nvSpPr>
        <p:spPr>
          <a:xfrm>
            <a:off x="14462463" y="4270028"/>
            <a:ext cx="27437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4428440" y="4965353"/>
            <a:ext cx="281181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57040" y="5213003"/>
            <a:ext cx="243896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E1B4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9 technical docs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750" y="7308503"/>
            <a:ext cx="7852470" cy="638175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/>
        </p:spPr>
      </p:sp>
      <p:sp>
        <p:nvSpPr>
          <p:cNvPr id="30" name="Text 28"/>
          <p:cNvSpPr/>
          <p:nvPr/>
        </p:nvSpPr>
        <p:spPr>
          <a:xfrm>
            <a:off x="1333500" y="7460903"/>
            <a:ext cx="75165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pure orchestration, zero business logic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389584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ENGINE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856309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Deterministic. Auditable. No training data.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4109591"/>
            <a:ext cx="41077" cy="7429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88827" y="4109591"/>
            <a:ext cx="1808559" cy="7429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2897386" y="4109591"/>
            <a:ext cx="4562624" cy="74295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460010" y="4109591"/>
            <a:ext cx="1808559" cy="74295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5228779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5138291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14750" y="5138291"/>
            <a:ext cx="6671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13936" y="5138291"/>
            <a:ext cx="143098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student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5752654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662166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14750" y="5662166"/>
            <a:ext cx="10931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– 74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74905" y="5662166"/>
            <a:ext cx="177001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students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6276529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6186041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14750" y="6186041"/>
            <a:ext cx="10931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– 49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05390" y="6186041"/>
            <a:ext cx="19395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students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7750" y="6800404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6709916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14750" y="6709916"/>
            <a:ext cx="6779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574905" y="6709916"/>
            <a:ext cx="177001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students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802118" y="4071640"/>
            <a:ext cx="7437983" cy="3028652"/>
          </a:xfrm>
          <a:prstGeom prst="roundRect">
            <a:avLst>
              <a:gd name="adj" fmla="val 6919"/>
            </a:avLst>
          </a:prstGeom>
          <a:solidFill>
            <a:srgbClr val="FFFFFF"/>
          </a:solidFill>
          <a:ln w="19050">
            <a:solidFill>
              <a:srgbClr val="5E2D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2168" y="4452640"/>
            <a:ext cx="683702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Score (0–100) =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02168" y="5067895"/>
            <a:ext cx="2134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Rate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534305" y="5067895"/>
            <a:ext cx="762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35%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02168" y="5502176"/>
            <a:ext cx="24083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Practice Missed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8744" y="5502176"/>
            <a:ext cx="762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30%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202168" y="5936456"/>
            <a:ext cx="227111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Downward Trend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671524" y="5936456"/>
            <a:ext cx="762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20%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02168" y="6370737"/>
            <a:ext cx="24083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Days Since Note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8744" y="6370737"/>
            <a:ext cx="762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15%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7750" y="7538442"/>
            <a:ext cx="147161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ML?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labeled outcome data. Weighted rules are auditable, explainable, and tuneable by the academic director.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064097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INTEGRATION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530822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batching · Reliable fallback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3708053"/>
            <a:ext cx="7924800" cy="3476625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7165628"/>
            <a:ext cx="79248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708053"/>
            <a:ext cx="7924800" cy="9525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708053"/>
            <a:ext cx="19050" cy="34766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9" name="Shape 7"/>
          <p:cNvSpPr/>
          <p:nvPr/>
        </p:nvSpPr>
        <p:spPr>
          <a:xfrm>
            <a:off x="8953500" y="3708053"/>
            <a:ext cx="19050" cy="34766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4127153"/>
            <a:ext cx="733844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generates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447800" y="4870103"/>
            <a:ext cx="3810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05000" y="4870103"/>
            <a:ext cx="5740668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2-sentence facilitator action summary per CRITICAL / HIGH student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47800" y="5746403"/>
            <a:ext cx="3810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05000" y="5746403"/>
            <a:ext cx="667468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WhatsApp-ready parent message (&lt; 100 words, Arabic-aware)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15450" y="3708053"/>
            <a:ext cx="7924800" cy="3476625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15450" y="7165628"/>
            <a:ext cx="79248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3708053"/>
            <a:ext cx="7924800" cy="9525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5450" y="3708053"/>
            <a:ext cx="19050" cy="34766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17221200" y="3708053"/>
            <a:ext cx="19050" cy="34766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4127153"/>
            <a:ext cx="733844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engineered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9715500" y="4870103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115550" y="4870103"/>
            <a:ext cx="51043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API call per campus — ~10× cost reduction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715500" y="5317778"/>
            <a:ext cx="323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115550" y="5317778"/>
            <a:ext cx="620422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fallback: HTTP retry → re-prompt → rule-based template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715500" y="6060728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115550" y="6060728"/>
            <a:ext cx="66924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never halts — labeled fallbacks shown to facilitator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715500" y="6508403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115550" y="6508403"/>
            <a:ext cx="37153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the $200 / month API budget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0" y="7584728"/>
            <a:ext cx="2354610" cy="638175"/>
          </a:xfrm>
          <a:prstGeom prst="roundRect">
            <a:avLst>
              <a:gd name="adj" fmla="val 50000"/>
            </a:avLst>
          </a:prstGeom>
          <a:solidFill>
            <a:srgbClr val="5E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1333500" y="7737128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API calls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3592860" y="7584728"/>
            <a:ext cx="2503289" cy="638175"/>
          </a:xfrm>
          <a:prstGeom prst="roundRect">
            <a:avLst>
              <a:gd name="adj" fmla="val 50000"/>
            </a:avLst>
          </a:prstGeom>
          <a:solidFill>
            <a:srgbClr val="5E2D91"/>
          </a:solidFill>
          <a:ln/>
        </p:spPr>
      </p:sp>
      <p:sp>
        <p:nvSpPr>
          <p:cNvPr id="32" name="Text 30"/>
          <p:cNvSpPr/>
          <p:nvPr/>
        </p:nvSpPr>
        <p:spPr>
          <a:xfrm>
            <a:off x="3878610" y="7737128"/>
            <a:ext cx="20079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25,897 tokens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286649" y="7584728"/>
            <a:ext cx="3691979" cy="638175"/>
          </a:xfrm>
          <a:prstGeom prst="roundRect">
            <a:avLst>
              <a:gd name="adj" fmla="val 50000"/>
            </a:avLst>
          </a:prstGeom>
          <a:solidFill>
            <a:srgbClr val="5E2D91"/>
          </a:solidFill>
          <a:ln/>
        </p:spPr>
      </p:sp>
      <p:sp>
        <p:nvSpPr>
          <p:cNvPr id="34" name="Text 32"/>
          <p:cNvSpPr/>
          <p:nvPr/>
        </p:nvSpPr>
        <p:spPr>
          <a:xfrm>
            <a:off x="6572399" y="7737128"/>
            <a:ext cx="32312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18,113 in / 7,784 out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169128" y="7584728"/>
            <a:ext cx="3543300" cy="638175"/>
          </a:xfrm>
          <a:prstGeom prst="roundRect">
            <a:avLst>
              <a:gd name="adj" fmla="val 50000"/>
            </a:avLst>
          </a:prstGeom>
          <a:solidFill>
            <a:srgbClr val="5E2D91"/>
          </a:solidFill>
          <a:ln/>
        </p:spPr>
      </p:sp>
      <p:sp>
        <p:nvSpPr>
          <p:cNvPr id="36" name="Text 34"/>
          <p:cNvSpPr/>
          <p:nvPr/>
        </p:nvSpPr>
        <p:spPr>
          <a:xfrm>
            <a:off x="10454878" y="7737128"/>
            <a:ext cx="30780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fallbacks handled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711672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178397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files. Zero new tools.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3336578"/>
            <a:ext cx="5219700" cy="2133600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5451128"/>
            <a:ext cx="52197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336578"/>
            <a:ext cx="52197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336578"/>
            <a:ext cx="19050" cy="213360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3336578"/>
            <a:ext cx="19050" cy="213360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3774728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intervention_priority_list.xlsx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7800" y="4203353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300 students, colour-coded, ranked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34150" y="3336578"/>
            <a:ext cx="5219700" cy="2133600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4150" y="5451128"/>
            <a:ext cx="52197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4150" y="3336578"/>
            <a:ext cx="52197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4150" y="3336578"/>
            <a:ext cx="19050" cy="213360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34800" y="3336578"/>
            <a:ext cx="19050" cy="213360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7" name="Text 15"/>
          <p:cNvSpPr/>
          <p:nvPr/>
        </p:nvSpPr>
        <p:spPr>
          <a:xfrm>
            <a:off x="6934200" y="3774728"/>
            <a:ext cx="455218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facilitator_dashboard_C01–C20.xlsx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34200" y="4498628"/>
            <a:ext cx="455218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per-campus files with LLM summaries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020550" y="3336578"/>
            <a:ext cx="5219700" cy="2133600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20550" y="5451128"/>
            <a:ext cx="52197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20550" y="3336578"/>
            <a:ext cx="52197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20550" y="3336578"/>
            <a:ext cx="19050" cy="213360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3" name="Shape 21"/>
          <p:cNvSpPr/>
          <p:nvPr/>
        </p:nvSpPr>
        <p:spPr>
          <a:xfrm>
            <a:off x="17221200" y="3336578"/>
            <a:ext cx="19050" cy="213360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4" name="Text 22"/>
          <p:cNvSpPr/>
          <p:nvPr/>
        </p:nvSpPr>
        <p:spPr>
          <a:xfrm>
            <a:off x="12420600" y="3774728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whatsapp_messages.csv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420600" y="4203353"/>
            <a:ext cx="455218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ready, UTF-8 BOM for Arabic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47750" y="5736878"/>
            <a:ext cx="5219700" cy="1838325"/>
          </a:xfrm>
          <a:prstGeom prst="roundRect">
            <a:avLst>
              <a:gd name="adj" fmla="val 11399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" y="7556153"/>
            <a:ext cx="52197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5736878"/>
            <a:ext cx="52197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5736878"/>
            <a:ext cx="19050" cy="18383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8400" y="5736878"/>
            <a:ext cx="19050" cy="18383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31" name="Text 29"/>
          <p:cNvSpPr/>
          <p:nvPr/>
        </p:nvSpPr>
        <p:spPr>
          <a:xfrm>
            <a:off x="1447800" y="6175028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facilitator_dashboard.html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47800" y="6603653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Sortable, filterable, offline via file://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534150" y="5736878"/>
            <a:ext cx="5219700" cy="1838325"/>
          </a:xfrm>
          <a:prstGeom prst="roundRect">
            <a:avLst>
              <a:gd name="adj" fmla="val 11399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534150" y="7556153"/>
            <a:ext cx="52197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534150" y="5736878"/>
            <a:ext cx="52197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534150" y="5736878"/>
            <a:ext cx="19050" cy="18383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37" name="Shape 35"/>
          <p:cNvSpPr/>
          <p:nvPr/>
        </p:nvSpPr>
        <p:spPr>
          <a:xfrm>
            <a:off x="11734800" y="5736878"/>
            <a:ext cx="19050" cy="18383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38" name="Text 36"/>
          <p:cNvSpPr/>
          <p:nvPr/>
        </p:nvSpPr>
        <p:spPr>
          <a:xfrm>
            <a:off x="6934200" y="6175028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intervention_report.docx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34200" y="6603653"/>
            <a:ext cx="455218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+ per-campus tables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2020550" y="5736878"/>
            <a:ext cx="5219700" cy="1838325"/>
          </a:xfrm>
          <a:prstGeom prst="roundRect">
            <a:avLst>
              <a:gd name="adj" fmla="val 11399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20550" y="7556153"/>
            <a:ext cx="521970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20550" y="5736878"/>
            <a:ext cx="52197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20550" y="5736878"/>
            <a:ext cx="19050" cy="18383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44" name="Shape 42"/>
          <p:cNvSpPr/>
          <p:nvPr/>
        </p:nvSpPr>
        <p:spPr>
          <a:xfrm>
            <a:off x="17221200" y="5736878"/>
            <a:ext cx="19050" cy="183832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45" name="Text 43"/>
          <p:cNvSpPr/>
          <p:nvPr/>
        </p:nvSpPr>
        <p:spPr>
          <a:xfrm>
            <a:off x="12420600" y="6175028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run_log.json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420600" y="6603653"/>
            <a:ext cx="45521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errors, fallbacks, runtime stats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047750" y="7975253"/>
            <a:ext cx="16192500" cy="600075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0" y="8127653"/>
            <a:ext cx="16106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Facilitators already use WhatsApp and Google Sheets. Zero new tools.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840260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RUN 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306985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pipeline run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3503265"/>
            <a:ext cx="5219700" cy="1952625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846165"/>
            <a:ext cx="4591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428750" y="4760565"/>
            <a:ext cx="4591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processed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34150" y="3503265"/>
            <a:ext cx="5219700" cy="1952625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15150" y="3846165"/>
            <a:ext cx="4591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6915150" y="4760565"/>
            <a:ext cx="4591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made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20550" y="3503265"/>
            <a:ext cx="5219700" cy="1952625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401550" y="3846165"/>
            <a:ext cx="4591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25,897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12401550" y="4760565"/>
            <a:ext cx="4591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used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5722590"/>
            <a:ext cx="5219700" cy="1952625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065490"/>
            <a:ext cx="4591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1428750" y="6979890"/>
            <a:ext cx="4591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files produced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34150" y="5722590"/>
            <a:ext cx="5219700" cy="1952625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915150" y="6065490"/>
            <a:ext cx="4591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6915150" y="6979890"/>
            <a:ext cx="4591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auto-removed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020550" y="5722590"/>
            <a:ext cx="5219700" cy="1952625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401550" y="6065490"/>
            <a:ext cx="4591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21" name="Text 19"/>
          <p:cNvSpPr/>
          <p:nvPr/>
        </p:nvSpPr>
        <p:spPr>
          <a:xfrm>
            <a:off x="12401550" y="6979890"/>
            <a:ext cx="4591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crashes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7750" y="8094315"/>
            <a:ext cx="166782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quality issues resolved automatically. No manual cleanup.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749772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DECISIONS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216497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choice has a reason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3355628"/>
            <a:ext cx="16192500" cy="5181600"/>
          </a:xfrm>
          <a:prstGeom prst="roundRect">
            <a:avLst>
              <a:gd name="adj" fmla="val 4044"/>
            </a:avLst>
          </a:prstGeom>
          <a:ln w="19050">
            <a:solidFill>
              <a:srgbClr val="E8E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3374678"/>
            <a:ext cx="16154400" cy="676275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565178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237190" y="3565178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66800" y="4050953"/>
            <a:ext cx="1615440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222403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scoring, not ML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37190" y="4222403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training data; rules are auditable and tuneable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" y="4689128"/>
            <a:ext cx="16154400" cy="638175"/>
          </a:xfrm>
          <a:prstGeom prst="rect">
            <a:avLst/>
          </a:prstGeom>
          <a:solidFill>
            <a:srgbClr val="F5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860578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Campus-level LLM batching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37190" y="4860578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~10× fewer API calls; cohort context improves quality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" y="5327303"/>
            <a:ext cx="1615440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498753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openpyxl not xlsxwriter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37190" y="5498753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xlsxwriter is write-only; openpyxl read/write/append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" y="5965478"/>
            <a:ext cx="16154400" cy="638175"/>
          </a:xfrm>
          <a:prstGeom prst="rect">
            <a:avLst/>
          </a:prstGeom>
          <a:solidFill>
            <a:srgbClr val="F5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6136928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as self-contained file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37190" y="6136928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server; works via file://, shareable by email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" y="6603653"/>
            <a:ext cx="1615440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6775103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Rule-based fallback templates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37190" y="6775103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 at scale; labeled so facilitators know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6800" y="7241828"/>
            <a:ext cx="16154400" cy="638175"/>
          </a:xfrm>
          <a:prstGeom prst="rect">
            <a:avLst/>
          </a:prstGeom>
          <a:solidFill>
            <a:srgbClr val="F5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7413278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python-docx for Word output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37190" y="7413278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.docx, no Microsoft Office on server needed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66800" y="7880003"/>
            <a:ext cx="16154400" cy="638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8051453"/>
            <a:ext cx="6461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2.2.3 not 3.x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37190" y="8051453"/>
            <a:ext cx="8957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Copy-on-Write mandatory in 3.x breaks existing patterns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703338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170063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decisions are engineering decisions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3309193"/>
            <a:ext cx="7953375" cy="2127647"/>
          </a:xfrm>
          <a:prstGeom prst="roundRect">
            <a:avLst>
              <a:gd name="adj" fmla="val 9849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96275" y="3575893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FFD60A"/>
          </a:solidFill>
          <a:ln/>
        </p:spPr>
      </p:sp>
      <p:sp>
        <p:nvSpPr>
          <p:cNvPr id="7" name="Text 5"/>
          <p:cNvSpPr/>
          <p:nvPr/>
        </p:nvSpPr>
        <p:spPr>
          <a:xfrm>
            <a:off x="8258175" y="357589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47800" y="3690193"/>
            <a:ext cx="736787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ML model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447800" y="4337893"/>
            <a:ext cx="736787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labeled historical outcomes. Deterministic scoring is faster, cheaper, auditable.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86875" y="3309193"/>
            <a:ext cx="7953375" cy="2127647"/>
          </a:xfrm>
          <a:prstGeom prst="roundRect">
            <a:avLst>
              <a:gd name="adj" fmla="val 9849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535400" y="3575893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16497300" y="357589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86925" y="3690193"/>
            <a:ext cx="736787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server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686925" y="4337893"/>
            <a:ext cx="736787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script fits facilitator workflow today. Cron adds scheduling with zero code change.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5722590"/>
            <a:ext cx="7953375" cy="2127647"/>
          </a:xfrm>
          <a:prstGeom prst="roundRect">
            <a:avLst>
              <a:gd name="adj" fmla="val 9849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6275" y="5989290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FFD60A"/>
          </a:solidFill>
          <a:ln/>
        </p:spPr>
      </p:sp>
      <p:sp>
        <p:nvSpPr>
          <p:cNvPr id="17" name="Text 15"/>
          <p:cNvSpPr/>
          <p:nvPr/>
        </p:nvSpPr>
        <p:spPr>
          <a:xfrm>
            <a:off x="8258175" y="598929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47800" y="6103590"/>
            <a:ext cx="736787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Docker / Kubernetes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447800" y="6751290"/>
            <a:ext cx="736787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part-time engineer post-launch. Python + pip beats container orchestration at 2am.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286875" y="5722590"/>
            <a:ext cx="7953375" cy="2127647"/>
          </a:xfrm>
          <a:prstGeom prst="roundRect">
            <a:avLst>
              <a:gd name="adj" fmla="val 9849"/>
            </a:avLst>
          </a:prstGeom>
          <a:solidFill>
            <a:srgbClr val="FFFFFF"/>
          </a:solidFill>
          <a:ln w="19050">
            <a:solidFill>
              <a:srgbClr val="E8E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535400" y="5989290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FFD60A"/>
          </a:solidFill>
          <a:ln/>
        </p:spPr>
      </p:sp>
      <p:sp>
        <p:nvSpPr>
          <p:cNvPr id="22" name="Text 20"/>
          <p:cNvSpPr/>
          <p:nvPr/>
        </p:nvSpPr>
        <p:spPr>
          <a:xfrm>
            <a:off x="16497300" y="598929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86925" y="6103590"/>
            <a:ext cx="736787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WhatsApp API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9686925" y="6751290"/>
            <a:ext cx="736787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verification required. Copy-paste from CSV achieves the same v1 outcome.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47750" y="8231237"/>
            <a:ext cx="166782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architecture is the simplest one that solves today and doesn't trap you tomorrow.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859435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326160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tests. 8 phases. Ship-ready.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4498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4670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+ Ingestion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4498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8" name="Text 6"/>
          <p:cNvSpPr/>
          <p:nvPr/>
        </p:nvSpPr>
        <p:spPr>
          <a:xfrm>
            <a:off x="5238750" y="4670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Engine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5260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5432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Integration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5260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12" name="Text 10"/>
          <p:cNvSpPr/>
          <p:nvPr/>
        </p:nvSpPr>
        <p:spPr>
          <a:xfrm>
            <a:off x="5238750" y="5432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CSV Outputs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6022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6194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Word Report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0" y="6022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16" name="Text 14"/>
          <p:cNvSpPr/>
          <p:nvPr/>
        </p:nvSpPr>
        <p:spPr>
          <a:xfrm>
            <a:off x="5238750" y="6194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Suite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50" y="6784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18" name="Text 16"/>
          <p:cNvSpPr/>
          <p:nvPr/>
        </p:nvSpPr>
        <p:spPr>
          <a:xfrm>
            <a:off x="1257300" y="6956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0" y="6784628"/>
            <a:ext cx="3848100" cy="628650"/>
          </a:xfrm>
          <a:prstGeom prst="roundRect">
            <a:avLst>
              <a:gd name="adj" fmla="val 21212"/>
            </a:avLst>
          </a:prstGeom>
          <a:solidFill>
            <a:srgbClr val="5E2D91"/>
          </a:solidFill>
          <a:ln/>
        </p:spPr>
      </p:sp>
      <p:sp>
        <p:nvSpPr>
          <p:cNvPr id="20" name="Text 18"/>
          <p:cNvSpPr/>
          <p:nvPr/>
        </p:nvSpPr>
        <p:spPr>
          <a:xfrm>
            <a:off x="5238750" y="6956078"/>
            <a:ext cx="35444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Polish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10700" y="4484340"/>
            <a:ext cx="7829550" cy="2943225"/>
          </a:xfrm>
          <a:prstGeom prst="roundRect">
            <a:avLst>
              <a:gd name="adj" fmla="val 7120"/>
            </a:avLst>
          </a:prstGeom>
          <a:solidFill>
            <a:srgbClr val="FFFFFF"/>
          </a:solidFill>
          <a:ln w="19050">
            <a:solidFill>
              <a:srgbClr val="5E2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0750" y="4865340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</a:t>
            </a:r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risk formula correctness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10750" y="5332065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</a:t>
            </a:r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CSV ingestion edge cases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810750" y="5798790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mock </a:t>
            </a:r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fallback paths </a:t>
            </a:r>
            <a:pPr algn="l" indent="0" marL="0">
              <a:buNone/>
            </a:pPr>
            <a:r>
              <a:rPr lang="en-US" sz="19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(respx, not responses)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810750" y="6275040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</a:t>
            </a:r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Excel colour-coding, file integrity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810750" y="6741765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</a:t>
            </a:r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full </a:t>
            </a:r>
            <a:pPr algn="l" indent="0" marL="0">
              <a:buNone/>
            </a:pPr>
            <a:r>
              <a:rPr lang="en-US" sz="19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</a:t>
            </a:r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synthetic data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507010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PATH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973735"/>
            <a:ext cx="1667827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54" kern="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100 campuses · 5,000 students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4131915"/>
            <a:ext cx="5206901" cy="3648075"/>
          </a:xfrm>
          <a:prstGeom prst="roundRect">
            <a:avLst>
              <a:gd name="adj" fmla="val 574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7760940"/>
            <a:ext cx="5206901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131915"/>
            <a:ext cx="5206901" cy="76200"/>
          </a:xfrm>
          <a:prstGeom prst="rect">
            <a:avLst/>
          </a:prstGeom>
          <a:solidFill>
            <a:srgbClr val="5E2D91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131915"/>
            <a:ext cx="19050" cy="364807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9" name="Shape 7"/>
          <p:cNvSpPr/>
          <p:nvPr/>
        </p:nvSpPr>
        <p:spPr>
          <a:xfrm>
            <a:off x="6235601" y="4131915"/>
            <a:ext cx="19050" cy="364807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4570065"/>
            <a:ext cx="45390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47800" y="4951065"/>
            <a:ext cx="4539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20 campuses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47800" y="5465415"/>
            <a:ext cx="45390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manual run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47800" y="5903565"/>
            <a:ext cx="45390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data, demo-ready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47800" y="6351240"/>
            <a:ext cx="45390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/ month API budget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40401" y="4131915"/>
            <a:ext cx="5207050" cy="3648075"/>
          </a:xfrm>
          <a:prstGeom prst="roundRect">
            <a:avLst>
              <a:gd name="adj" fmla="val 574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0401" y="7760940"/>
            <a:ext cx="52070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0401" y="4131915"/>
            <a:ext cx="520705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0401" y="4131915"/>
            <a:ext cx="19050" cy="364807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28400" y="4131915"/>
            <a:ext cx="19050" cy="364807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0" name="Text 18"/>
          <p:cNvSpPr/>
          <p:nvPr/>
        </p:nvSpPr>
        <p:spPr>
          <a:xfrm>
            <a:off x="6940451" y="4570065"/>
            <a:ext cx="45391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940451" y="4951065"/>
            <a:ext cx="45391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100 campuses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7096" y="5465415"/>
            <a:ext cx="4656505" cy="197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/ Task Scheduler trigger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LMS data exports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risk weights with academic director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dialect tuning per campus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33200" y="4131915"/>
            <a:ext cx="5207050" cy="3648075"/>
          </a:xfrm>
          <a:prstGeom prst="roundRect">
            <a:avLst>
              <a:gd name="adj" fmla="val 574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33200" y="7760940"/>
            <a:ext cx="5207050" cy="19050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33200" y="4131915"/>
            <a:ext cx="5207050" cy="762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33200" y="4131915"/>
            <a:ext cx="19050" cy="364807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7" name="Shape 25"/>
          <p:cNvSpPr/>
          <p:nvPr/>
        </p:nvSpPr>
        <p:spPr>
          <a:xfrm>
            <a:off x="17221200" y="4131915"/>
            <a:ext cx="19050" cy="3648075"/>
          </a:xfrm>
          <a:prstGeom prst="rect">
            <a:avLst/>
          </a:prstGeom>
          <a:solidFill>
            <a:srgbClr val="E8E5F2"/>
          </a:solidFill>
          <a:ln/>
        </p:spPr>
      </p:sp>
      <p:sp>
        <p:nvSpPr>
          <p:cNvPr id="28" name="Text 26"/>
          <p:cNvSpPr/>
          <p:nvPr/>
        </p:nvSpPr>
        <p:spPr>
          <a:xfrm>
            <a:off x="12433250" y="4570065"/>
            <a:ext cx="45391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259895" y="5465415"/>
            <a:ext cx="4656505" cy="1819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on attendance upload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 feedback loop (contacted? outcome?)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Risk-weight calibration from historical data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E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29000" y="762000"/>
            <a:ext cx="14287500" cy="14287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0" y="2419796"/>
            <a:ext cx="1333500" cy="60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02344" y="3486596"/>
            <a:ext cx="9483163" cy="1656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5400" b="1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8 phases. 114 tests. 300 students. 14 output files.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7818090" y="5505004"/>
            <a:ext cx="2651820" cy="63817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6" name="Text 2"/>
          <p:cNvSpPr/>
          <p:nvPr/>
        </p:nvSpPr>
        <p:spPr>
          <a:xfrm>
            <a:off x="8064063" y="5657404"/>
            <a:ext cx="2159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950" dirty="0"/>
          </a:p>
        </p:txBody>
      </p:sp>
      <p:sp>
        <p:nvSpPr>
          <p:cNvPr id="7" name="Shape 3"/>
          <p:cNvSpPr/>
          <p:nvPr/>
        </p:nvSpPr>
        <p:spPr>
          <a:xfrm>
            <a:off x="5223570" y="6524179"/>
            <a:ext cx="1342281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5471220" y="6676579"/>
            <a:ext cx="8469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950" dirty="0"/>
          </a:p>
        </p:txBody>
      </p:sp>
      <p:sp>
        <p:nvSpPr>
          <p:cNvPr id="9" name="Shape 5"/>
          <p:cNvSpPr/>
          <p:nvPr/>
        </p:nvSpPr>
        <p:spPr>
          <a:xfrm>
            <a:off x="6756350" y="6524179"/>
            <a:ext cx="1879104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7004000" y="6676579"/>
            <a:ext cx="13838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analysis.md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8825954" y="6524179"/>
            <a:ext cx="1452711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9073604" y="6676579"/>
            <a:ext cx="9574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0469166" y="6524179"/>
            <a:ext cx="2595265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10715987" y="6676579"/>
            <a:ext cx="2101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 walkthrough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6924320" y="7581454"/>
            <a:ext cx="44392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abdulrahman.b.mousa@gmail.com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2026-05-29T03:18:22Z</dcterms:created>
  <dcterms:modified xsi:type="dcterms:W3CDTF">2026-05-29T03:18:22Z</dcterms:modified>
</cp:coreProperties>
</file>